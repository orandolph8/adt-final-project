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58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8644" autoAdjust="0"/>
  </p:normalViewPr>
  <p:slideViewPr>
    <p:cSldViewPr snapToGrid="0">
      <p:cViewPr varScale="1">
        <p:scale>
          <a:sx n="65" d="100"/>
          <a:sy n="65" d="100"/>
        </p:scale>
        <p:origin x="13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73491-E71C-496A-B1DD-8AD6A5CE13C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7646E-7058-49C4-924F-D70C8F5DE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6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is an Ecommerce Database and Analytics Platform built using Amazon Web services. The purpose is to store and manage transactional data, and leverage Amazon </a:t>
            </a:r>
            <a:r>
              <a:rPr lang="en-US" dirty="0" err="1"/>
              <a:t>QuickSight</a:t>
            </a:r>
            <a:r>
              <a:rPr lang="en-US" dirty="0"/>
              <a:t> as the business intelligence layer to visualize sales, profit, and regional trends for actionable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9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of our project is to provide users of an e-commerce company detailed and up-to-date information about various aspects of their business starting from unorganized data and ending with a visually appealing and interactive dashboard. The goal is that this dashboard will help inform internal stakeholders where to allocate resources based on profit, region, sales, and volume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8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 modelled the data in MySQL Workbench, stored it in an Aurora MySQL cluster within a secure VPC, exported to S3 for scalable storage, and then connected to </a:t>
            </a:r>
            <a:r>
              <a:rPr lang="en-US" dirty="0" err="1"/>
              <a:t>QuickSight</a:t>
            </a:r>
            <a:r>
              <a:rPr lang="en-US" dirty="0"/>
              <a:t> for interactive dashboards.</a:t>
            </a:r>
          </a:p>
          <a:p>
            <a:r>
              <a:rPr lang="en-US" dirty="0"/>
              <a:t>Aurora and S3 allow for highly scalable, secure, high performing and highly resilient work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0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the top of the dashboards, users can filter the visualization data by date range, region, product category and minimum profit.</a:t>
            </a:r>
          </a:p>
          <a:p>
            <a:r>
              <a:rPr lang="en-US" dirty="0"/>
              <a:t>The bar chart identifies top-performing categories for marketing and sector investment strategies</a:t>
            </a:r>
          </a:p>
          <a:p>
            <a:r>
              <a:rPr lang="en-US" dirty="0"/>
              <a:t>The tree map shows users which sub-categories contribute most volume and profit, guiding decisions on scaling production or focusing on promotional efforts</a:t>
            </a:r>
          </a:p>
          <a:p>
            <a:r>
              <a:rPr lang="en-US" dirty="0"/>
              <a:t>The Sankey diagram shows profit by sub-category and region, allowing stakeholders to see which sub-categories are most profitable in which region, guiding resource allocation and campaigns</a:t>
            </a:r>
          </a:p>
          <a:p>
            <a:r>
              <a:rPr lang="en-US" dirty="0"/>
              <a:t>And the line diagram has sales profit and volume by date to identify seasonality, demand spikes, growth trends for inventory planning, marketing scheduling, and sales forecasting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7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68FB-3637-BA45-70F2-3C4F2183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7BD89-F5C3-B570-6AC4-B64F7AC06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B5E26-5ED5-44FA-C75B-C6153C55B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profit by region identifies which categories are leading profit helping stakeholders prioritize investment, marketing, and inventory decisions for high-performing categories.</a:t>
            </a:r>
          </a:p>
          <a:p>
            <a:endParaRPr lang="en-US" dirty="0"/>
          </a:p>
          <a:p>
            <a:r>
              <a:rPr lang="en-US" dirty="0"/>
              <a:t>Text Insight highlights which sub-categories perform best in each region, enabling targeted regional strategies</a:t>
            </a:r>
          </a:p>
          <a:p>
            <a:endParaRPr lang="en-US" dirty="0"/>
          </a:p>
          <a:p>
            <a:r>
              <a:rPr lang="en-US" dirty="0"/>
              <a:t>The Shipping mode bar chart is broken down by regions, guiding logistics decision making</a:t>
            </a:r>
          </a:p>
          <a:p>
            <a:endParaRPr lang="en-US" dirty="0"/>
          </a:p>
          <a:p>
            <a:r>
              <a:rPr lang="en-US" dirty="0"/>
              <a:t>The pie charts reveal the most profitable states per region for marketing campaigns and inventory distribution</a:t>
            </a:r>
          </a:p>
          <a:p>
            <a:endParaRPr lang="en-US" dirty="0"/>
          </a:p>
          <a:p>
            <a:r>
              <a:rPr lang="en-US" dirty="0"/>
              <a:t>Finally, the geographic map: Provides at-a-glance insight into categorical performance and trends by region, supporting strategic decisions like where to allocate resources or open new distribution centers.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F6032-AD27-DC2B-0B1E-9425DF81D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29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Although </a:t>
            </a:r>
            <a:r>
              <a:rPr lang="en-US" sz="1200" dirty="0" err="1"/>
              <a:t>QuickSight</a:t>
            </a:r>
            <a:r>
              <a:rPr lang="en-US" sz="1200" dirty="0"/>
              <a:t> does not allow a standalone URL, it can be embedded into a company website or portal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Or create reports with </a:t>
            </a:r>
            <a:r>
              <a:rPr lang="en-US" sz="1200" dirty="0" err="1"/>
              <a:t>Quicksight</a:t>
            </a:r>
            <a:r>
              <a:rPr lang="en-US" sz="1200" dirty="0"/>
              <a:t> extensions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AWS offers a world of options for working this database and dashboard into a more robust pipeline including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Data Ingestion from other sources (using an API Gateway)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Data flow Automation (using AWS Lambda)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ETL for improved query performance (using AWS Glue)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Data Warehouse for optimizing analytics performance at scale (with Amazon Redshift)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And Machine Learning applications (with Amazon </a:t>
            </a:r>
            <a:r>
              <a:rPr lang="en-US" sz="1200" dirty="0" err="1"/>
              <a:t>Sagemaker</a:t>
            </a:r>
            <a:r>
              <a:rPr lang="en-US" sz="1200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7646E-7058-49C4-924F-D70C8F5DE0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98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B706-525E-4E70-5BB7-E1F930808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DC0F9-4176-811A-3F07-E247E4BD7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1DEE5-F74F-DD82-4C24-73F0F6BD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BB4FE-B054-EC64-1BBA-35339631A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D5DF0-71BD-2464-D9D0-95FE87B6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0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0771-8C68-8AA6-72B4-8931D63E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C050C-20A9-FD51-3AA6-465412EA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C6624-27A0-AF5B-78C1-5DB5021C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A8BF-F4F8-D21F-1493-64FE6D76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AF3D5-DE3C-9845-1209-D1B9445C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6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1B34-1678-B1BC-6DAF-856BB838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0D9F2-9599-AEA3-2C3D-57EF88CAE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46B8D-8A2F-37DA-83F1-9AE41AC4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625-8CBE-294C-A0EC-F8041949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0D387-D9AB-4F3D-84F7-4C57FE518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8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2A84-0057-E459-98E5-4D763D9E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7CAEA-1B03-F4C5-22AD-1BE9E14B6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2950E-EEC3-D128-6B31-6983549D7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7BEE7-41FF-0A0D-BC2B-4B92B6D6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B97F5-35E8-938B-6A2A-76A32EB8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C8D98-3F79-BC69-1BC1-88AC8474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8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4443-4FB0-FE4D-662B-D6DD72DC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B185D-29FE-693A-FE81-C593CDB1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298B0-8022-6F45-0F2E-02617636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5A7C4-5E12-FE2E-651C-98CAAC4E8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548B7-B6E3-5FDF-0B6E-BE11344CE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2DC5-C7C9-EA42-3102-58F2D509C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78DD6-2D41-6629-20C8-14ABACA1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961D9-ACF3-0B21-F4ED-69C604B7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8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DF48-9FAB-95D3-2973-0FBC180A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922C3-228C-76E7-6612-DF8533A3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2685E-E4CD-16D3-1173-E0672A20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E9BF2-31D8-0C24-2061-969CB381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9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90186-45AE-5717-4CC6-9E475BAF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73050-0F98-6DAC-30A4-04878A18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DC6A1-6F7B-631A-66F4-947A0251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6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20DF-99E1-EE61-F90C-2C10B816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662C3-CDFF-7A44-D46E-5CEA9DD44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238A6-426F-FE46-87A3-7D0684F19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7A4FC-894B-6553-4B0D-9D8FEB965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13B18-2779-9C1C-D712-A290BEC1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4F1A3-68DE-CF12-197A-79382E40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2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3B25-883E-F4F9-E5BD-D7585D98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335C2-52D9-8656-F1FE-7171ABEE2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45640-72AD-397A-0EB3-2A74F5AA3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080F3-DE3A-AE43-3210-740E38F1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0A37C-360A-37FC-1446-7DAEB992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2F4A8-40B3-B568-1BDE-019D7C04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8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C447-B1F1-2108-6A41-7F1A41C7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9A339-70CE-5ED1-7021-A3126EF2D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90A5E-C586-912B-BA46-59FE8D13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EAC63-6CA3-E477-2E5F-6FE835F5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6AFD-DD67-ADA0-E395-2652B2AD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5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B71EE-1313-A66D-55F1-78F0FCF17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3412F-41D8-F9C1-F15F-BD9C7828B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AE44D-46D6-52B4-C20C-ACC0856C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653D3-C9D2-1BDB-E083-11D3896A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B00C1-E1E6-0F45-756C-BF33A91C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2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331EE-9D5E-D841-ED4D-087CE5D0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ADFAC-8613-E69D-4CF2-96AD188A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047CD-CED3-EBB1-4E4D-3B311BC3D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8BB1D-4AC7-41D8-B89D-F126B9E2990A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D2BC-6C93-C041-33C3-AB7CE79B2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E42F9-98BB-5628-D576-0EA264862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2FBCC-4E95-47C5-8AAA-58BC0F6BC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6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microsoft.com/office/2007/relationships/media" Target="../media/media2.m4a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audio" Target="../media/media3.m4a"/><Relationship Id="rId5" Type="http://schemas.microsoft.com/office/2007/relationships/media" Target="../media/media3.m4a"/><Relationship Id="rId4" Type="http://schemas.openxmlformats.org/officeDocument/2006/relationships/audio" Target="../media/media2.m4a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cYoxFsi2zM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3E41-D889-67AF-BD23-DFDBE6D84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Ecommerce Database &amp;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19802-06FA-AFC0-C429-E8B473C7E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Owen Randolph, Gabe Tharp, and Marcos Fernandez</a:t>
            </a:r>
          </a:p>
        </p:txBody>
      </p:sp>
      <p:pic>
        <p:nvPicPr>
          <p:cNvPr id="8" name="Owen Intro">
            <a:hlinkClick r:id="" action="ppaction://media"/>
            <a:extLst>
              <a:ext uri="{FF2B5EF4-FFF2-40B4-BE49-F238E27FC236}">
                <a16:creationId xmlns:a16="http://schemas.microsoft.com/office/drawing/2014/main" id="{09D16F57-9DF4-5047-9249-DD98B46450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951" y="4125119"/>
            <a:ext cx="609600" cy="609600"/>
          </a:xfrm>
          <a:prstGeom prst="rect">
            <a:avLst/>
          </a:prstGeom>
        </p:spPr>
      </p:pic>
      <p:pic>
        <p:nvPicPr>
          <p:cNvPr id="4" name="Gabe Intro">
            <a:hlinkClick r:id="" action="ppaction://media"/>
            <a:extLst>
              <a:ext uri="{FF2B5EF4-FFF2-40B4-BE49-F238E27FC236}">
                <a16:creationId xmlns:a16="http://schemas.microsoft.com/office/drawing/2014/main" id="{7E0C6876-EFC2-4C11-0955-9D7EBD93E76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951" y="4953000"/>
            <a:ext cx="609600" cy="609600"/>
          </a:xfrm>
          <a:prstGeom prst="rect">
            <a:avLst/>
          </a:prstGeom>
        </p:spPr>
      </p:pic>
      <p:pic>
        <p:nvPicPr>
          <p:cNvPr id="5" name="Marcos Intro">
            <a:hlinkClick r:id="" action="ppaction://media"/>
            <a:extLst>
              <a:ext uri="{FF2B5EF4-FFF2-40B4-BE49-F238E27FC236}">
                <a16:creationId xmlns:a16="http://schemas.microsoft.com/office/drawing/2014/main" id="{C4CE9861-A5C9-D228-75E7-7E70010F9D1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4951" y="57808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"/>
    </mc:Choice>
    <mc:Fallback xmlns="">
      <p:transition spd="slow" advTm="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6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3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45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B7E0-04A3-036B-A459-F9A9D7570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65"/>
            <a:ext cx="10515600" cy="841583"/>
          </a:xfrm>
        </p:spPr>
        <p:txBody>
          <a:bodyPr/>
          <a:lstStyle/>
          <a:p>
            <a:pPr algn="ctr"/>
            <a:r>
              <a:rPr lang="en-US" dirty="0"/>
              <a:t>Project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101F3-CF80-137D-A8FA-89B0F5EB1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102" y="1309138"/>
            <a:ext cx="7012898" cy="4007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9A8CDD-193C-A403-3065-E19E6A63AAFE}"/>
              </a:ext>
            </a:extLst>
          </p:cNvPr>
          <p:cNvSpPr txBox="1"/>
          <p:nvPr/>
        </p:nvSpPr>
        <p:spPr>
          <a:xfrm>
            <a:off x="502170" y="906905"/>
            <a:ext cx="400237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Organizing confusing information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Visualizing KPIs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Driving internal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Video 10">
            <a:hlinkClick r:id="" action="ppaction://media"/>
            <a:extLst>
              <a:ext uri="{FF2B5EF4-FFF2-40B4-BE49-F238E27FC236}">
                <a16:creationId xmlns:a16="http://schemas.microsoft.com/office/drawing/2014/main" id="{608D36CE-3BDE-C61D-0D2F-6B67D8DCE7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445957" y="4620868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5252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07"/>
    </mc:Choice>
    <mc:Fallback xmlns="">
      <p:transition spd="slow" advTm="26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3E5E-2D91-9875-9AE7-86A129B2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Architecture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9B21FD-4777-7C5B-1E8A-C7E158533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831810"/>
            <a:ext cx="10039350" cy="412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3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2E63-B4A1-4584-9147-2481280C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83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Product Analysis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9C1FC-E3F4-FD47-19F5-058775BA9269}"/>
              </a:ext>
            </a:extLst>
          </p:cNvPr>
          <p:cNvSpPr txBox="1"/>
          <p:nvPr/>
        </p:nvSpPr>
        <p:spPr>
          <a:xfrm>
            <a:off x="8506326" y="1498483"/>
            <a:ext cx="35422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Considerations for: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Supply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Sales Efforts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F30825-DBC7-74A7-A559-676E12471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70021"/>
            <a:ext cx="7105770" cy="549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4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A7FA-E515-C37A-38EA-1FAB8C47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A4FD-B530-28DF-F6F5-7C05FF3E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832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Region Analysis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97F80-7782-C4FC-476A-6F6B6AFCA51D}"/>
              </a:ext>
            </a:extLst>
          </p:cNvPr>
          <p:cNvSpPr txBox="1"/>
          <p:nvPr/>
        </p:nvSpPr>
        <p:spPr>
          <a:xfrm>
            <a:off x="8506326" y="1498483"/>
            <a:ext cx="35422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Considerations for: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Logistics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Sales Efforts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425B72-1F1F-DF22-8197-78BF82DB4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22" y="938463"/>
            <a:ext cx="7543966" cy="533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1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D0BA-EB3E-B931-7F54-9FE4E1D7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760"/>
            <a:ext cx="10515600" cy="826593"/>
          </a:xfrm>
        </p:spPr>
        <p:txBody>
          <a:bodyPr/>
          <a:lstStyle/>
          <a:p>
            <a:pPr algn="ctr"/>
            <a:r>
              <a:rPr lang="en-US" dirty="0"/>
              <a:t>Application Demonstration</a:t>
            </a:r>
          </a:p>
        </p:txBody>
      </p:sp>
      <p:pic>
        <p:nvPicPr>
          <p:cNvPr id="5" name="Online Media 4" title="ADT - Summer 2025 Project Demonstration">
            <a:hlinkClick r:id="" action="ppaction://media"/>
            <a:extLst>
              <a:ext uri="{FF2B5EF4-FFF2-40B4-BE49-F238E27FC236}">
                <a16:creationId xmlns:a16="http://schemas.microsoft.com/office/drawing/2014/main" id="{1D912680-1A82-9C87-4923-92BFD91B93E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61710" y="834697"/>
            <a:ext cx="10668580" cy="60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7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DFD9-30FD-9106-6DDA-8ECBDD711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Possible Additions for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12FF-D991-6911-A4CC-82524E4EB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Deploy as embedded dashboard on a website</a:t>
            </a:r>
          </a:p>
          <a:p>
            <a:r>
              <a:rPr lang="en-US" sz="3600" dirty="0"/>
              <a:t>Report Building</a:t>
            </a:r>
          </a:p>
          <a:p>
            <a:r>
              <a:rPr lang="en-US" sz="3600" dirty="0"/>
              <a:t>Pipeline expansion for</a:t>
            </a:r>
          </a:p>
          <a:p>
            <a:pPr lvl="1"/>
            <a:r>
              <a:rPr lang="en-US" sz="3200" dirty="0"/>
              <a:t>Data Ingestion from other sources </a:t>
            </a:r>
          </a:p>
          <a:p>
            <a:pPr lvl="1"/>
            <a:r>
              <a:rPr lang="en-US" sz="3200" dirty="0"/>
              <a:t>Data Flow Automation </a:t>
            </a:r>
          </a:p>
          <a:p>
            <a:pPr lvl="1"/>
            <a:r>
              <a:rPr lang="en-US" sz="3200" dirty="0"/>
              <a:t>ETL </a:t>
            </a:r>
          </a:p>
          <a:p>
            <a:pPr lvl="1"/>
            <a:r>
              <a:rPr lang="en-US" sz="3200" dirty="0"/>
              <a:t>Data Warehouse </a:t>
            </a:r>
          </a:p>
          <a:p>
            <a:pPr lvl="1"/>
            <a:r>
              <a:rPr lang="en-US" sz="3200" dirty="0"/>
              <a:t>Machine Learning </a:t>
            </a:r>
          </a:p>
        </p:txBody>
      </p:sp>
      <p:pic>
        <p:nvPicPr>
          <p:cNvPr id="51" name="Video 50">
            <a:hlinkClick r:id="" action="ppaction://media"/>
            <a:extLst>
              <a:ext uri="{FF2B5EF4-FFF2-40B4-BE49-F238E27FC236}">
                <a16:creationId xmlns:a16="http://schemas.microsoft.com/office/drawing/2014/main" id="{B422D382-A068-1F11-5B1D-F0D867F2E5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490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54"/>
    </mc:Choice>
    <mc:Fallback xmlns="">
      <p:transition spd="slow" advTm="36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2593</TotalTime>
  <Words>565</Words>
  <Application>Microsoft Office PowerPoint</Application>
  <PresentationFormat>Widescreen</PresentationFormat>
  <Paragraphs>77</Paragraphs>
  <Slides>7</Slides>
  <Notes>6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Ecommerce Database &amp; Analytics Platform</vt:lpstr>
      <vt:lpstr>Project Scope</vt:lpstr>
      <vt:lpstr>Project Architecture</vt:lpstr>
      <vt:lpstr>Product Analysis Dashboard</vt:lpstr>
      <vt:lpstr>Region Analysis Dashboard</vt:lpstr>
      <vt:lpstr>Application Demonstration</vt:lpstr>
      <vt:lpstr>Possible Additions for Expansion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Owen Randolph</dc:creator>
  <cp:lastModifiedBy>Fernandez, Marcos</cp:lastModifiedBy>
  <cp:revision>9</cp:revision>
  <dcterms:created xsi:type="dcterms:W3CDTF">2025-07-31T12:31:24Z</dcterms:created>
  <dcterms:modified xsi:type="dcterms:W3CDTF">2025-08-03T14:01:23Z</dcterms:modified>
</cp:coreProperties>
</file>