
<file path=[Content_Types].xml><?xml version="1.0" encoding="utf-8"?>
<Types xmlns="http://schemas.openxmlformats.org/package/2006/content-types">
  <Default Extension="jpeg" ContentType="image/jpeg"/>
  <Default Extension="m4a" ContentType="audio/mp4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3" r:id="rId3"/>
    <p:sldId id="257" r:id="rId4"/>
    <p:sldId id="258" r:id="rId5"/>
    <p:sldId id="261" r:id="rId6"/>
    <p:sldId id="262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D6DFF7-D572-4D22-B7B9-106FB370231B}" v="20" dt="2025-08-01T12:52:35.3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68644" autoAdjust="0"/>
  </p:normalViewPr>
  <p:slideViewPr>
    <p:cSldViewPr snapToGrid="0">
      <p:cViewPr varScale="1">
        <p:scale>
          <a:sx n="76" d="100"/>
          <a:sy n="76" d="100"/>
        </p:scale>
        <p:origin x="195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573491-E71C-496A-B1DD-8AD6A5CE13CA}" type="datetimeFigureOut">
              <a:rPr lang="en-US" smtClean="0"/>
              <a:t>8/2/2025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7646E-7058-49C4-924F-D70C8F5DE0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865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project is an Ecommerce Database and Analytics Platform built using Amazon Web services. The purpose is to store and manage transactional data, and leverage Amazon </a:t>
            </a:r>
            <a:r>
              <a:rPr lang="en-US" dirty="0" err="1"/>
              <a:t>QuickSight</a:t>
            </a:r>
            <a:r>
              <a:rPr lang="en-US" dirty="0"/>
              <a:t> as the business intelligence layer to visualize sales, profit, and regional trends for actionable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7646E-7058-49C4-924F-D70C8F5DE09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0969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aim of our project is to provide users of an e-commerce company detailed and up-to-date information about various aspects of their business starting from unorganized data and ending with a visually appealing and interactive dashboard. The goal is that this dashboard will help inform internal stakeholders where to allocate resources based on profit, region, sales, and volume data.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7646E-7058-49C4-924F-D70C8F5DE09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8835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the modelled the data in MySQL Workbench, stored it in an Aurora MySQL cluster within a secure VPC, exported to S3 for scalable storage, and then connected to </a:t>
            </a:r>
            <a:r>
              <a:rPr lang="en-US" dirty="0" err="1"/>
              <a:t>QuickSight</a:t>
            </a:r>
            <a:r>
              <a:rPr lang="en-US" dirty="0"/>
              <a:t> for interactive dashboards.</a:t>
            </a:r>
          </a:p>
          <a:p>
            <a:r>
              <a:rPr lang="en-US" dirty="0"/>
              <a:t>Aurora and S3 allow for highly scalable, secure, high performing and highly resilient work 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7646E-7058-49C4-924F-D70C8F5DE09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5059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the top of the dashboards, users can filter the visualization data by date range, region, product category and minimum profit.</a:t>
            </a:r>
          </a:p>
          <a:p>
            <a:r>
              <a:rPr lang="en-US" dirty="0"/>
              <a:t>The bar chart identifies top-performing categories for marketing and sector investment strategies</a:t>
            </a:r>
          </a:p>
          <a:p>
            <a:r>
              <a:rPr lang="en-US" dirty="0"/>
              <a:t>The tree map shows users which sub-categories contribute most volume and profit, guiding decisions on scaling production or focusing on promotional efforts</a:t>
            </a:r>
          </a:p>
          <a:p>
            <a:r>
              <a:rPr lang="en-US" dirty="0"/>
              <a:t>The Sankey diagram shows profit by sub-category and region, allowing stakeholders to see which sub-categories are most profitable in which region, guiding resource allocation and campaigns</a:t>
            </a:r>
          </a:p>
          <a:p>
            <a:r>
              <a:rPr lang="en-US" dirty="0"/>
              <a:t>And the line diagram has sales profit and volume by date to identify seasonality, demand spikes, growth trends for inventory planning, marketing scheduling, and sales forecasting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7646E-7058-49C4-924F-D70C8F5DE09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9712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D68FB-3637-BA45-70F2-3C4F2183B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37BD89-F5C3-B570-6AC4-B64F7AC06E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9B5E26-5ED5-44FA-C75B-C6153C55BD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profit by region identifies which categories are leading profit helping stakeholders prioritize investment, marketing, and inventory decisions for high-performing categories.</a:t>
            </a:r>
          </a:p>
          <a:p>
            <a:endParaRPr lang="en-US" dirty="0"/>
          </a:p>
          <a:p>
            <a:r>
              <a:rPr lang="en-US" dirty="0"/>
              <a:t>Text Insight highlights which sub-categories perform best in each region, enabling targeted regional strategies</a:t>
            </a:r>
          </a:p>
          <a:p>
            <a:endParaRPr lang="en-US" dirty="0"/>
          </a:p>
          <a:p>
            <a:r>
              <a:rPr lang="en-US" dirty="0"/>
              <a:t>The Shipping mode bar chart is broken down by regions, guiding logistics decision making</a:t>
            </a:r>
          </a:p>
          <a:p>
            <a:endParaRPr lang="en-US" dirty="0"/>
          </a:p>
          <a:p>
            <a:r>
              <a:rPr lang="en-US" dirty="0"/>
              <a:t>The pie charts reveal the most profitable states per region for marketing campaigns and inventory distribution</a:t>
            </a:r>
          </a:p>
          <a:p>
            <a:endParaRPr lang="en-US" dirty="0"/>
          </a:p>
          <a:p>
            <a:r>
              <a:rPr lang="en-US" dirty="0"/>
              <a:t>Finally, the geographic map: Provides at-a-glance insight into categorical performance and trends by region, supporting strategic decisions like where to allocate resources or open new distribution centers.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F6032-AD27-DC2B-0B1E-9425DF81DB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7646E-7058-49C4-924F-D70C8F5DE09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229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Although </a:t>
            </a:r>
            <a:r>
              <a:rPr lang="en-US" sz="1200" dirty="0" err="1"/>
              <a:t>QuickSight</a:t>
            </a:r>
            <a:r>
              <a:rPr lang="en-US" sz="1200" dirty="0"/>
              <a:t> does not allow a standalone URL, it can be embedded into a company website or portal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Or create reports with </a:t>
            </a:r>
            <a:r>
              <a:rPr lang="en-US" sz="1200" dirty="0" err="1"/>
              <a:t>Quicksight</a:t>
            </a:r>
            <a:r>
              <a:rPr lang="en-US" sz="1200" dirty="0"/>
              <a:t> extensions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AWS offers a world of options for working this database and dashboard into a more robust pipeline including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Data Ingestion from other sources (using an API Gateway)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Data flow Automation (using AWS Lambda)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ETL for improved query performance (using AWS Glue)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Data Warehouse for optimizing analytics performance at scale (with Amazon Redshift)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And Machine Learning applications (with Amazon </a:t>
            </a:r>
            <a:r>
              <a:rPr lang="en-US" sz="1200" dirty="0" err="1"/>
              <a:t>Sagemaker</a:t>
            </a:r>
            <a:r>
              <a:rPr lang="en-US" sz="1200" dirty="0"/>
              <a:t>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7646E-7058-49C4-924F-D70C8F5DE09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498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EB706-525E-4E70-5BB7-E1F930808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FDC0F9-4176-811A-3F07-E247E4BD73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B1DEE5-F74F-DD82-4C24-73F0F6BD5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BBB4FE-B054-EC64-1BBA-35339631A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D5DF0-71BD-2464-D9D0-95FE87B6F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305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0771-8C68-8AA6-72B4-8931D63E8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C050C-20A9-FD51-3AA6-465412EAAC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DC6624-27A0-AF5B-78C1-5DB5021C4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0A8BF-F4F8-D21F-1493-64FE6D76E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EAF3D5-DE3C-9845-1209-D1B9445C6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60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11B34-1678-B1BC-6DAF-856BB8380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10D9F2-9599-AEA3-2C3D-57EF88CAE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46B8D-8A2F-37DA-83F1-9AE41AC48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54625-8CBE-294C-A0EC-F80419494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0D387-D9AB-4F3D-84F7-4C57FE518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584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22A84-0057-E459-98E5-4D763D9E2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7CAEA-1B03-F4C5-22AD-1BE9E14B6C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62950E-EEC3-D128-6B31-6983549D7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7BEE7-41FF-0A0D-BC2B-4B92B6D67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7B97F5-35E8-938B-6A2A-76A32EB83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3C8D98-3F79-BC69-1BC1-88AC847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285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14443-4FB0-FE4D-662B-D6DD72DCD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2B185D-29FE-693A-FE81-C593CDB17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E298B0-8022-6F45-0F2E-026176360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F5A7C4-5E12-FE2E-651C-98CAAC4E84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5548B7-B6E3-5FDF-0B6E-BE11344CE3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072DC5-C7C9-EA42-3102-58F2D509C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078DD6-2D41-6629-20C8-14ABACA19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8961D9-ACF3-0B21-F4ED-69C604B7E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080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FDF48-9FAB-95D3-2973-0FBC180A1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8922C3-228C-76E7-6612-DF8533A3A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F2685E-E4CD-16D3-1173-E0672A208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5E9BF2-31D8-0C24-2061-969CB381E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091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990186-45AE-5717-4CC6-9E475BAF8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673050-0F98-6DAC-30A4-04878A184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6DC6A1-6F7B-631A-66F4-947A0251C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162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920DF-99E1-EE61-F90C-2C10B816E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662C3-CDFF-7A44-D46E-5CEA9DD44E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D238A6-426F-FE46-87A3-7D0684F19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67A4FC-894B-6553-4B0D-9D8FEB965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13B18-2779-9C1C-D712-A290BEC1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4F1A3-68DE-CF12-197A-79382E40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926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23B25-883E-F4F9-E5BD-D7585D982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1335C2-52D9-8656-F1FE-7171ABEE26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45640-72AD-397A-0EB3-2A74F5AA3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080F3-DE3A-AE43-3210-740E38F19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0A37C-360A-37FC-1446-7DAEB992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62F4A8-40B3-B568-1BDE-019D7C04B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685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6C447-B1F1-2108-6A41-7F1A41C76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29A339-70CE-5ED1-7021-A3126EF2D7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490A5E-C586-912B-BA46-59FE8D13F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EAC63-6CA3-E477-2E5F-6FE835F54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B6AFD-DD67-ADA0-E395-2652B2AD4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956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1B71EE-1313-A66D-55F1-78F0FCF170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3412F-41D8-F9C1-F15F-BD9C7828BC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8AE44D-46D6-52B4-C20C-ACC0856CB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8BB1D-4AC7-41D8-B89D-F126B9E2990A}" type="datetimeFigureOut">
              <a:rPr lang="en-US" smtClean="0"/>
              <a:t>8/2/2025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4653D3-C9D2-1BDB-E083-11D3896AF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B00C1-E1E6-0F45-756C-BF33A91C0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02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6331EE-9D5E-D841-ED4D-087CE5D0E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FADFAC-8613-E69D-4CF2-96AD188A86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047CD-CED3-EBB1-4E4D-3B311BC3D2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B8BB1D-4AC7-41D8-B89D-F126B9E2990A}" type="datetimeFigureOut">
              <a:rPr lang="en-US" smtClean="0"/>
              <a:t>8/2/2025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BD2BC-6C93-C041-33C3-AB7CE79B22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E42F9-98BB-5628-D576-0EA2648621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A2FBCC-4E95-47C5-8AAA-58BC0F6BCB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766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VcYoxFsi2zM?feature=oembed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13E41-D889-67AF-BD23-DFDBE6D842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Ecommerce Database &amp; Analytics Platform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319802-06FA-AFC0-C429-E8B473C7E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Owen Randolph, Gabe Tharp, and Marcos Fernandez</a:t>
            </a:r>
          </a:p>
        </p:txBody>
      </p:sp>
      <p:pic>
        <p:nvPicPr>
          <p:cNvPr id="8" name="Owen Intro">
            <a:hlinkClick r:id="" action="ppaction://media"/>
            <a:extLst>
              <a:ext uri="{FF2B5EF4-FFF2-40B4-BE49-F238E27FC236}">
                <a16:creationId xmlns:a16="http://schemas.microsoft.com/office/drawing/2014/main" id="{09D16F57-9DF4-5047-9249-DD98B464503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52500" y="55880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9691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9"/>
    </mc:Choice>
    <mc:Fallback>
      <p:transition spd="slow" advTm="4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65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CB7E0-04A3-036B-A459-F9A9D7570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65"/>
            <a:ext cx="10515600" cy="841583"/>
          </a:xfrm>
        </p:spPr>
        <p:txBody>
          <a:bodyPr/>
          <a:lstStyle/>
          <a:p>
            <a:pPr algn="ctr"/>
            <a:r>
              <a:rPr lang="en-US" dirty="0"/>
              <a:t>Project Scope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4101F3-CF80-137D-A8FA-89B0F5EB1D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9102" y="1309138"/>
            <a:ext cx="7012898" cy="40073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9A8CDD-193C-A403-3065-E19E6A63AAFE}"/>
              </a:ext>
            </a:extLst>
          </p:cNvPr>
          <p:cNvSpPr txBox="1"/>
          <p:nvPr/>
        </p:nvSpPr>
        <p:spPr>
          <a:xfrm>
            <a:off x="502170" y="906905"/>
            <a:ext cx="400237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/>
              <a:t>Organizing confusing information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/>
              <a:t>Visualizing KPIs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/>
              <a:t>Driving internal decisions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1" name="Video 10">
            <a:hlinkClick r:id="" action="ppaction://media"/>
            <a:extLst>
              <a:ext uri="{FF2B5EF4-FFF2-40B4-BE49-F238E27FC236}">
                <a16:creationId xmlns:a16="http://schemas.microsoft.com/office/drawing/2014/main" id="{608D36CE-3BDE-C61D-0D2F-6B67D8DCE72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6"/>
          <a:srcRect l="21875" r="21875"/>
          <a:stretch>
            <a:fillRect/>
          </a:stretch>
        </p:blipFill>
        <p:spPr>
          <a:xfrm>
            <a:off x="445957" y="4620868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752525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907"/>
    </mc:Choice>
    <mc:Fallback xmlns="">
      <p:transition spd="slow" advTm="2690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B3E5E-2D91-9875-9AE7-86A129B27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Project Architecture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29B21FD-4777-7C5B-1E8A-C7E158533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25" y="1831810"/>
            <a:ext cx="10039350" cy="4126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631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B2E63-B4A1-4584-9147-2481280C9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8832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Product Analysis Dashboard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F9C1FC-E3F4-FD47-19F5-058775BA9269}"/>
              </a:ext>
            </a:extLst>
          </p:cNvPr>
          <p:cNvSpPr txBox="1"/>
          <p:nvPr/>
        </p:nvSpPr>
        <p:spPr>
          <a:xfrm>
            <a:off x="8506326" y="1498483"/>
            <a:ext cx="354221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Considerations for:</a:t>
            </a:r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Marketing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Supply Chain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Sales Efforts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3F30825-DBC7-74A7-A559-676E124718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770021"/>
            <a:ext cx="7105770" cy="549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143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5A7FA-E515-C37A-38EA-1FAB8C474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6A4FD-B530-28DF-F6F5-7C05FF3E6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8832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Region Analysis Dashboard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497F80-7782-C4FC-476A-6F6B6AFCA51D}"/>
              </a:ext>
            </a:extLst>
          </p:cNvPr>
          <p:cNvSpPr txBox="1"/>
          <p:nvPr/>
        </p:nvSpPr>
        <p:spPr>
          <a:xfrm>
            <a:off x="8506326" y="1498483"/>
            <a:ext cx="354221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Considerations for:</a:t>
            </a:r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Marketing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Logistics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Sales Efforts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425B72-1F1F-DF22-8197-78BF82DB4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22" y="938463"/>
            <a:ext cx="7543966" cy="533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11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1D0BA-EB3E-B931-7F54-9FE4E1D7D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2760"/>
            <a:ext cx="10515600" cy="826593"/>
          </a:xfrm>
        </p:spPr>
        <p:txBody>
          <a:bodyPr/>
          <a:lstStyle/>
          <a:p>
            <a:pPr algn="ctr"/>
            <a:r>
              <a:rPr lang="en-US" dirty="0"/>
              <a:t>Application Demonstration</a:t>
            </a:r>
          </a:p>
        </p:txBody>
      </p:sp>
      <p:pic>
        <p:nvPicPr>
          <p:cNvPr id="5" name="Online Media 4" title="ADT - Summer 2025 Project Demonstration">
            <a:hlinkClick r:id="" action="ppaction://media"/>
            <a:extLst>
              <a:ext uri="{FF2B5EF4-FFF2-40B4-BE49-F238E27FC236}">
                <a16:creationId xmlns:a16="http://schemas.microsoft.com/office/drawing/2014/main" id="{1D912680-1A82-9C87-4923-92BFD91B93EE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1710" y="834697"/>
            <a:ext cx="10668580" cy="6023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573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9DFD9-30FD-9106-6DDA-8ECBDD711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Possible Additions for Expansion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412FF-D991-6911-A4CC-82524E4EB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Deploy as embedded dashboard on a website</a:t>
            </a:r>
          </a:p>
          <a:p>
            <a:r>
              <a:rPr lang="en-US" sz="3600" dirty="0"/>
              <a:t>Report Building</a:t>
            </a:r>
          </a:p>
          <a:p>
            <a:r>
              <a:rPr lang="en-US" sz="3600" dirty="0"/>
              <a:t>Pipeline expansion for</a:t>
            </a:r>
          </a:p>
          <a:p>
            <a:pPr lvl="1"/>
            <a:r>
              <a:rPr lang="en-US" sz="3200" dirty="0"/>
              <a:t>Data Ingestion from other sources </a:t>
            </a:r>
          </a:p>
          <a:p>
            <a:pPr lvl="1"/>
            <a:r>
              <a:rPr lang="en-US" sz="3200" dirty="0"/>
              <a:t>Data Flow Automation </a:t>
            </a:r>
          </a:p>
          <a:p>
            <a:pPr lvl="1"/>
            <a:r>
              <a:rPr lang="en-US" sz="3200" dirty="0"/>
              <a:t>ETL </a:t>
            </a:r>
          </a:p>
          <a:p>
            <a:pPr lvl="1"/>
            <a:r>
              <a:rPr lang="en-US" sz="3200" dirty="0"/>
              <a:t>Data Warehouse </a:t>
            </a:r>
          </a:p>
          <a:p>
            <a:pPr lvl="1"/>
            <a:r>
              <a:rPr lang="en-US" sz="3200" dirty="0"/>
              <a:t>Machine Learning </a:t>
            </a:r>
          </a:p>
        </p:txBody>
      </p:sp>
      <p:pic>
        <p:nvPicPr>
          <p:cNvPr id="51" name="Video 50">
            <a:hlinkClick r:id="" action="ppaction://media"/>
            <a:extLst>
              <a:ext uri="{FF2B5EF4-FFF2-40B4-BE49-F238E27FC236}">
                <a16:creationId xmlns:a16="http://schemas.microsoft.com/office/drawing/2014/main" id="{B422D382-A068-1F11-5B1D-F0D867F2E5D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5"/>
          <a:srcRect l="21875" r="218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249062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6654"/>
    </mc:Choice>
    <mc:Fallback>
      <p:transition spd="slow" advTm="3665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7" fill="hold" display="0">
                  <p:stCondLst>
                    <p:cond delay="indefinite"/>
                  </p:stCondLst>
                </p:cTn>
                <p:tgtEl>
                  <p:spTgt spid="5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2588</TotalTime>
  <Words>565</Words>
  <Application>Microsoft Office PowerPoint</Application>
  <PresentationFormat>Widescreen</PresentationFormat>
  <Paragraphs>77</Paragraphs>
  <Slides>7</Slides>
  <Notes>6</Notes>
  <HiddenSlides>0</HiddenSlides>
  <MMClips>4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Ecommerce Database &amp; Analytics Platform</vt:lpstr>
      <vt:lpstr>Project Scope</vt:lpstr>
      <vt:lpstr>Project Architecture</vt:lpstr>
      <vt:lpstr>Product Analysis Dashboard</vt:lpstr>
      <vt:lpstr>Region Analysis Dashboard</vt:lpstr>
      <vt:lpstr>Application Demonstration</vt:lpstr>
      <vt:lpstr>Possible Additions for Expansion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Owen Randolph</dc:creator>
  <cp:lastModifiedBy>Owen Randolph</cp:lastModifiedBy>
  <cp:revision>7</cp:revision>
  <dcterms:created xsi:type="dcterms:W3CDTF">2025-07-31T12:31:24Z</dcterms:created>
  <dcterms:modified xsi:type="dcterms:W3CDTF">2025-08-03T13:15:17Z</dcterms:modified>
</cp:coreProperties>
</file>